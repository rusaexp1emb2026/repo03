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5" r:id="rId4"/>
    <p:sldId id="277" r:id="rId5"/>
    <p:sldId id="278" r:id="rId6"/>
    <p:sldId id="262" r:id="rId7"/>
    <p:sldId id="279" r:id="rId8"/>
    <p:sldId id="280" r:id="rId9"/>
    <p:sldId id="268" r:id="rId10"/>
    <p:sldId id="281" r:id="rId11"/>
    <p:sldId id="269" r:id="rId12"/>
    <p:sldId id="286" r:id="rId13"/>
    <p:sldId id="287" r:id="rId14"/>
    <p:sldId id="28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F44"/>
    <a:srgbClr val="3E3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F3691-7DFB-21B7-0078-CD6065F4CD0D}" v="1345" dt="2026-04-17T15:09:47.767"/>
    <p1510:client id="{7CC049CD-4ED6-564D-97A8-1F3630A46CFF}" v="5" dt="2026-04-17T02:26:58.039"/>
    <p1510:client id="{C34D9319-4C46-105D-8714-F2E68F7735EE}" v="25" dt="2026-04-17T03:31:19.018"/>
    <p1510:client id="{D9C52484-D92C-F870-ECDB-A58013BFF2F8}" v="440" dt="2026-04-17T04:41:47.381"/>
    <p1510:client id="{ED49C4C0-902F-3031-677A-D6CBEF2151A9}" v="401" dt="2026-04-16T08:40:54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2FEAA-9AC6-B826-1BE2-690AC595D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51F36A-451C-4759-9D6B-50F2610F2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7DFEC3-A683-8157-9FD8-6ECEBDC8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589C17-BF4A-AA8F-D6B2-276E9546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0290DA-AC8B-7F08-8C3C-67DD0D4F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55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887A4A-C4FF-DE41-AAE8-59A6D3FF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C90393-9F62-8309-66EF-C9DC47E47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941C92-8C2A-1DB8-ADC7-1E766665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84F12-2C0C-DFEB-7B1F-9EA7C06A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467BC4-95EC-A94C-F2F6-44C5F2D5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83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C8E74-71BB-3618-32EA-707AF945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D31ACC-8282-9DEF-5E05-14DEE59A4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0FC110-9971-13AD-5D6C-8D173A28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2CFD6-3A01-733C-78DE-D94E053E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2E488F-E0B8-E232-4B10-0E4F9589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42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6A6F3-FC5A-2DEC-7A24-44D894AB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39B10E-C478-AD9E-399C-99E25738D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F98875-E104-EF18-C71A-E257E689D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FB754E-66EA-613C-E786-8572C27D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2F1160-C6DF-4577-1AC7-328D17FB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426E9B-8562-5D33-1960-E47DEBA9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148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6750E5-BDB9-F516-CB68-312F5655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FA5333-AA06-263E-05E6-585663542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63AEA9-2AEA-27B3-8AB7-BCC8CE2E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3920B1-3A92-C6AB-401C-3BD166DF7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68058D-3451-ACEC-4E58-BA0FA5B52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150B70-5403-560B-FABF-65478020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423958-46A4-5EDD-06EE-B3588DEA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C10FB6-5950-F5B9-678C-D597B482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09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E6AC0-A4E8-ABF2-2839-E3E1DDD9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4A83C5-BF3A-2562-908A-7C232468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67C5A1-8FF7-F099-CCE5-2E7D1AAE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FC7E53-35E2-63DB-AEB5-8E31715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72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AFF404F-C57F-5A16-61C8-AE77700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537BB2-C2BD-7512-1518-E37E14EB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9CC4DE-09BA-10FA-71AC-B072581D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40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D56DA-C463-6B59-94FE-6EF66E4B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7EE81-F9DA-09EA-2A22-6D6AC14CD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EC252D-A705-60E9-9A78-19FA7C052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0C6525-6115-4F80-EFA9-6E31AB5A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D51235-F598-D1E1-41AF-3C6F6401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36657-4371-288E-9B28-1A4C4B77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27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1896A-1B56-2EAF-9C2B-A7295C4E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EFED66-928A-E72B-84B9-820902282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1D2752-5C6A-DE25-2411-E0A006FC7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BCA6C7-66C7-E1E5-BFFC-A4E4C605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F36623-10E3-BA46-511D-F9EFDA45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AAE291-1553-9FC7-3E32-2DABDD72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0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F7BBB-4CD3-3406-CBBF-0CBE3233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9BA70B-CA08-D6BB-A6D8-EB8F520D7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C54ECB-C9AE-519B-FC4A-4C772114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68FC3B-AADE-8426-C157-9C6EB7A2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908C6D-C17C-196D-FDFF-F01C4A57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39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2CF2D3-6D1E-D3A2-E57A-010FCD8B0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BC2BAC-A22F-4CD2-FA87-547CAE121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E208E-C724-BBCC-D1D6-7C3067EE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DFBB25-94FD-1C42-8A69-62A02B18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F061F-7F30-251B-E67C-DD9779B4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5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51DB0F-3473-40E4-1BAF-9C4FDB01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5DD965-CF0E-0B7D-426A-D250B135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9DB7B1-12DF-763C-BB51-48F291994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272E0-1020-44B3-A065-BD9D9E626388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76A2D-B460-23A3-D13D-C3D3695D8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9EEED6-339B-E18A-A469-6BD794969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F85A3-30D3-4A67-92D6-A76119BB82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51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0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D7FB0E-6895-8178-4C4C-6F71A12DC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9600" b="1" kern="1200">
                <a:solidFill>
                  <a:srgbClr val="FFFFFF"/>
                </a:solidFill>
                <a:latin typeface="+mj-lt"/>
                <a:ea typeface="游ゴシック Light"/>
                <a:cs typeface="+mj-cs"/>
              </a:rPr>
              <a:t>中間発表</a:t>
            </a:r>
            <a:endParaRPr lang="en-US" altLang="ja-JP" sz="9600" kern="1200">
              <a:solidFill>
                <a:srgbClr val="FFFFFF"/>
              </a:solidFill>
              <a:latin typeface="+mj-lt"/>
              <a:ea typeface="游ゴシック Light"/>
              <a:cs typeface="+mj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E3B10C-647B-870C-19BE-D729645FBCEB}"/>
              </a:ext>
            </a:extLst>
          </p:cNvPr>
          <p:cNvSpPr txBox="1"/>
          <p:nvPr/>
        </p:nvSpPr>
        <p:spPr>
          <a:xfrm>
            <a:off x="2634916" y="4533813"/>
            <a:ext cx="6930189" cy="9384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ja-JP" sz="3600" kern="1200">
                <a:solidFill>
                  <a:srgbClr val="FFFFFF"/>
                </a:solidFill>
                <a:latin typeface="+mn-lt"/>
                <a:ea typeface="游ゴシック"/>
                <a:cs typeface="+mn-cs"/>
              </a:rPr>
              <a:t>Group 3</a:t>
            </a: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4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DD886B-54B7-6981-E003-8566FFF4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6600" b="1" kern="1200">
                <a:latin typeface="+mj-lt"/>
                <a:ea typeface="游ゴシック Light"/>
                <a:cs typeface="+mj-cs"/>
              </a:rPr>
              <a:t>1</a:t>
            </a:r>
            <a:r>
              <a:rPr lang="ja-JP" altLang="en-US" sz="6600" b="1" kern="1200">
                <a:latin typeface="+mj-lt"/>
                <a:ea typeface="游ゴシック Light"/>
                <a:cs typeface="+mj-cs"/>
              </a:rPr>
              <a:t>．要求仕様</a:t>
            </a:r>
            <a:endParaRPr kumimoji="1" lang="en-US" altLang="ja-JP" sz="6600" b="1" kern="1200">
              <a:latin typeface="+mj-lt"/>
              <a:ea typeface="游ゴシック Light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0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F4A5-64CF-990A-1E2A-F86ED0AB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13DB3B8-E685-1FDB-E5C7-B34010B6F0A7}"/>
              </a:ext>
            </a:extLst>
          </p:cNvPr>
          <p:cNvSpPr/>
          <p:nvPr/>
        </p:nvSpPr>
        <p:spPr>
          <a:xfrm>
            <a:off x="407029" y="384741"/>
            <a:ext cx="4954985" cy="9517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2D524-5359-31B2-C58C-0BF9D40F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4102925" cy="939615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システムの概要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600FC-DF05-7C2E-8177-CD67E0B37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8223" cy="4885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人の出入りを検知してカメラで写真を撮る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ユーザは撮った写真を</a:t>
            </a:r>
            <a:r>
              <a:rPr lang="ja-JP" altLang="en-US" sz="3200">
                <a:ea typeface="游ゴシック"/>
              </a:rPr>
              <a:t>メールで確認できる</a:t>
            </a: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出入りを検知して照明のON/OFFを行う</a:t>
            </a:r>
          </a:p>
          <a:p>
            <a:pPr>
              <a:buFont typeface="Arial,Sans-Serif"/>
              <a:buChar char="•"/>
            </a:pPr>
            <a:endParaRPr lang="ja-JP" altLang="en-US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ユーザユーザが決定した部屋の</a:t>
            </a:r>
            <a:r>
              <a:rPr lang="ja-JP" altLang="en-US" sz="3200">
                <a:ea typeface="游ゴシック"/>
              </a:rPr>
              <a:t>明るさに自動で調整する</a:t>
            </a:r>
          </a:p>
        </p:txBody>
      </p:sp>
    </p:spTree>
    <p:extLst>
      <p:ext uri="{BB962C8B-B14F-4D97-AF65-F5344CB8AC3E}">
        <p14:creationId xmlns:p14="http://schemas.microsoft.com/office/powerpoint/2010/main" val="133922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E0E0-8DE3-6687-1903-DFDF4010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E0C55CB-D0FC-9894-46C0-E9FC8E353DE1}"/>
              </a:ext>
            </a:extLst>
          </p:cNvPr>
          <p:cNvSpPr/>
          <p:nvPr/>
        </p:nvSpPr>
        <p:spPr>
          <a:xfrm>
            <a:off x="407029" y="384741"/>
            <a:ext cx="3262752" cy="9517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DDFC78-9F43-4B26-D32D-1557A10C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2420588" cy="949511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要求仕様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80ABA-1D34-887A-09A7-FF28DCF57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8223" cy="4885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帰宅したときにカメラが動きを検知して写真を撮ること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ユーザが撮った写真をメールで確認できること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帰宅した後3秒後にリビングの照明がつくこと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ユーザが快適な明るさを設定でき、快適な明るさの値と5違えば設定された明るさに調整されること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2996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3CD0-29BF-18E9-DBD0-1D79EC21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B578934-0849-BC0C-232D-11A57C9A5174}"/>
              </a:ext>
            </a:extLst>
          </p:cNvPr>
          <p:cNvSpPr/>
          <p:nvPr/>
        </p:nvSpPr>
        <p:spPr>
          <a:xfrm>
            <a:off x="407029" y="384741"/>
            <a:ext cx="4954985" cy="9418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B3E87B4-4A16-1178-921D-2F296F1D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4102925" cy="939615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想定する利用者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A58BC1-E552-7C7D-91A2-2BBD77FFA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8223" cy="4885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防犯に不安がある人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altLang="en-US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照明のリモコンをなくしやすい人</a:t>
            </a:r>
            <a:endParaRPr lang="ja-JP" altLang="en-US"/>
          </a:p>
          <a:p>
            <a:pPr>
              <a:buFont typeface="Arial,Sans-Serif"/>
              <a:buChar char="•"/>
            </a:pPr>
            <a:endParaRPr lang="ja-JP" altLang="en-US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常に快適な明るさで生活をしたい人</a:t>
            </a:r>
          </a:p>
          <a:p>
            <a:pPr>
              <a:buFont typeface="Arial,Sans-Serif"/>
              <a:buChar char="•"/>
            </a:pPr>
            <a:endParaRPr lang="ja-JP" altLang="en-US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altLang="en-US" sz="3200">
                <a:ea typeface="游ゴシック"/>
              </a:rPr>
              <a:t>家族の帰宅と外出を確認したい人</a:t>
            </a:r>
          </a:p>
        </p:txBody>
      </p:sp>
    </p:spTree>
    <p:extLst>
      <p:ext uri="{BB962C8B-B14F-4D97-AF65-F5344CB8AC3E}">
        <p14:creationId xmlns:p14="http://schemas.microsoft.com/office/powerpoint/2010/main" val="86902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1EC1C1-3B76-164B-5897-EEECE1B1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6600" b="1" kern="1200">
                <a:latin typeface="+mj-lt"/>
                <a:ea typeface="游ゴシック Light"/>
                <a:cs typeface="+mj-cs"/>
              </a:rPr>
              <a:t>２．設計</a:t>
            </a:r>
            <a:endParaRPr kumimoji="1" lang="en-US" altLang="ja-JP" sz="6600" b="1" kern="1200">
              <a:latin typeface="+mj-lt"/>
              <a:ea typeface="游ゴシック Light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8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FD56-878E-FCCD-439B-6789B1A2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8ED3563-460A-B947-BE5F-CD4F730D591E}"/>
              </a:ext>
            </a:extLst>
          </p:cNvPr>
          <p:cNvSpPr/>
          <p:nvPr/>
        </p:nvSpPr>
        <p:spPr>
          <a:xfrm>
            <a:off x="407029" y="384741"/>
            <a:ext cx="6033660" cy="9418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158E911-3A17-E52E-520F-78A373876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5240976" cy="939615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システム処理の流れ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D4EE0A-8ECB-7BA9-1B4D-DE0E2C8BB01E}"/>
              </a:ext>
            </a:extLst>
          </p:cNvPr>
          <p:cNvSpPr/>
          <p:nvPr/>
        </p:nvSpPr>
        <p:spPr>
          <a:xfrm rot="1980000">
            <a:off x="6793066" y="2544618"/>
            <a:ext cx="243952" cy="149068"/>
          </a:xfrm>
          <a:prstGeom prst="rect">
            <a:avLst/>
          </a:prstGeom>
          <a:solidFill>
            <a:srgbClr val="3E3F45"/>
          </a:solidFill>
          <a:ln>
            <a:solidFill>
              <a:srgbClr val="3E3F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CE1D634-F9A5-3571-EAD8-DF9F3A1E6385}"/>
              </a:ext>
            </a:extLst>
          </p:cNvPr>
          <p:cNvGrpSpPr/>
          <p:nvPr/>
        </p:nvGrpSpPr>
        <p:grpSpPr>
          <a:xfrm>
            <a:off x="3065146" y="2357985"/>
            <a:ext cx="8708206" cy="4120670"/>
            <a:chOff x="2924035" y="2188652"/>
            <a:chExt cx="8708206" cy="4120670"/>
          </a:xfrm>
        </p:grpSpPr>
        <p:pic>
          <p:nvPicPr>
            <p:cNvPr id="19" name="図 18" descr="ipod, 電子機器 が含まれている画像&#10;&#10;AI 生成コンテンツは間違っている可能性があります。">
              <a:extLst>
                <a:ext uri="{FF2B5EF4-FFF2-40B4-BE49-F238E27FC236}">
                  <a16:creationId xmlns:a16="http://schemas.microsoft.com/office/drawing/2014/main" id="{30DEF9ED-E596-4641-6674-C1B15BF7D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11428" y="3050939"/>
              <a:ext cx="1220813" cy="1461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FFBDA9A6-B0FE-B329-CF07-9B2F3068F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9020" y="2188652"/>
              <a:ext cx="1798022" cy="1952793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AAF57654-7E5F-F4AC-DF46-3E959EA6D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00000">
              <a:off x="5918420" y="2424380"/>
              <a:ext cx="1340354" cy="1431053"/>
            </a:xfrm>
            <a:prstGeom prst="rect">
              <a:avLst/>
            </a:prstGeom>
          </p:spPr>
        </p:pic>
        <p:sp>
          <p:nvSpPr>
            <p:cNvPr id="22" name="矢印: 二方向 21">
              <a:extLst>
                <a:ext uri="{FF2B5EF4-FFF2-40B4-BE49-F238E27FC236}">
                  <a16:creationId xmlns:a16="http://schemas.microsoft.com/office/drawing/2014/main" id="{C6876E7C-92E7-F685-9DBB-2D3FC74A0292}"/>
                </a:ext>
              </a:extLst>
            </p:cNvPr>
            <p:cNvSpPr/>
            <p:nvPr/>
          </p:nvSpPr>
          <p:spPr>
            <a:xfrm>
              <a:off x="5467923" y="4325278"/>
              <a:ext cx="1476152" cy="1484360"/>
            </a:xfrm>
            <a:prstGeom prst="leftUpArrow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3" name="矢印: 右 22">
              <a:extLst>
                <a:ext uri="{FF2B5EF4-FFF2-40B4-BE49-F238E27FC236}">
                  <a16:creationId xmlns:a16="http://schemas.microsoft.com/office/drawing/2014/main" id="{B667F47C-6946-E84C-C32A-C400E7DDDD8D}"/>
                </a:ext>
              </a:extLst>
            </p:cNvPr>
            <p:cNvSpPr/>
            <p:nvPr/>
          </p:nvSpPr>
          <p:spPr>
            <a:xfrm>
              <a:off x="6418121" y="5063989"/>
              <a:ext cx="1271750" cy="747436"/>
            </a:xfrm>
            <a:prstGeom prst="rightArrow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84E85A64-CBD4-5A70-226C-9043CF969667}"/>
                </a:ext>
              </a:extLst>
            </p:cNvPr>
            <p:cNvSpPr/>
            <p:nvPr/>
          </p:nvSpPr>
          <p:spPr>
            <a:xfrm>
              <a:off x="6402665" y="5066968"/>
              <a:ext cx="350168" cy="550761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F2810C87-0748-47F1-73F3-A22F79D9B962}"/>
                </a:ext>
              </a:extLst>
            </p:cNvPr>
            <p:cNvSpPr/>
            <p:nvPr/>
          </p:nvSpPr>
          <p:spPr>
            <a:xfrm>
              <a:off x="8141116" y="4630360"/>
              <a:ext cx="1875503" cy="16744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3200" b="1">
                  <a:solidFill>
                    <a:schemeClr val="accent2"/>
                  </a:solidFill>
                  <a:ea typeface="游ゴシック"/>
                </a:rPr>
                <a:t>Spread</a:t>
              </a:r>
              <a:endParaRPr lang="ja-JP" b="1">
                <a:solidFill>
                  <a:schemeClr val="accent2"/>
                </a:solidFill>
                <a:ea typeface="游ゴシック"/>
              </a:endParaRPr>
            </a:p>
            <a:p>
              <a:pPr algn="r"/>
              <a:r>
                <a:rPr lang="ja-JP" altLang="en-US" sz="3200" b="1">
                  <a:solidFill>
                    <a:schemeClr val="accent2"/>
                  </a:solidFill>
                  <a:ea typeface="游ゴシック"/>
                </a:rPr>
                <a:t>sheet</a:t>
              </a:r>
            </a:p>
          </p:txBody>
        </p: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5822882C-F8B8-8EBF-7C9D-0E4B74600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4035" y="4531202"/>
              <a:ext cx="2343510" cy="1778120"/>
            </a:xfrm>
            <a:prstGeom prst="rect">
              <a:avLst/>
            </a:prstGeom>
          </p:spPr>
        </p:pic>
        <p:sp>
          <p:nvSpPr>
            <p:cNvPr id="27" name="矢印: 右 26">
              <a:extLst>
                <a:ext uri="{FF2B5EF4-FFF2-40B4-BE49-F238E27FC236}">
                  <a16:creationId xmlns:a16="http://schemas.microsoft.com/office/drawing/2014/main" id="{5928684E-EDC1-F1E8-8911-DA2EF0E43E8E}"/>
                </a:ext>
              </a:extLst>
            </p:cNvPr>
            <p:cNvSpPr/>
            <p:nvPr/>
          </p:nvSpPr>
          <p:spPr>
            <a:xfrm rot="5400000">
              <a:off x="8982485" y="3621415"/>
              <a:ext cx="1076732" cy="337389"/>
            </a:xfrm>
            <a:prstGeom prst="rightArrow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8" name="矢印: 右 27">
              <a:extLst>
                <a:ext uri="{FF2B5EF4-FFF2-40B4-BE49-F238E27FC236}">
                  <a16:creationId xmlns:a16="http://schemas.microsoft.com/office/drawing/2014/main" id="{53C45605-C766-E22C-F03A-22B24E37BC01}"/>
                </a:ext>
              </a:extLst>
            </p:cNvPr>
            <p:cNvSpPr/>
            <p:nvPr/>
          </p:nvSpPr>
          <p:spPr>
            <a:xfrm rot="16200000">
              <a:off x="8097894" y="3610228"/>
              <a:ext cx="1076731" cy="337388"/>
            </a:xfrm>
            <a:prstGeom prst="rightArrow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p:pic>
        <p:nvPicPr>
          <p:cNvPr id="14" name="図 13">
            <a:extLst>
              <a:ext uri="{FF2B5EF4-FFF2-40B4-BE49-F238E27FC236}">
                <a16:creationId xmlns:a16="http://schemas.microsoft.com/office/drawing/2014/main" id="{D701A852-3D0A-063F-6475-B99774249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20" y="4268604"/>
            <a:ext cx="1798349" cy="220701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F73CC1E-5F7C-81DC-FFF2-9E1B406A2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816" y="3842365"/>
            <a:ext cx="1163726" cy="1072569"/>
          </a:xfrm>
          <a:prstGeom prst="rect">
            <a:avLst/>
          </a:prstGeom>
        </p:spPr>
      </p:pic>
      <p:sp>
        <p:nvSpPr>
          <p:cNvPr id="16" name="爆発: 14 pt 15">
            <a:extLst>
              <a:ext uri="{FF2B5EF4-FFF2-40B4-BE49-F238E27FC236}">
                <a16:creationId xmlns:a16="http://schemas.microsoft.com/office/drawing/2014/main" id="{DED6FB4A-51CF-704B-F70A-4D8A7A04249A}"/>
              </a:ext>
            </a:extLst>
          </p:cNvPr>
          <p:cNvSpPr/>
          <p:nvPr/>
        </p:nvSpPr>
        <p:spPr>
          <a:xfrm>
            <a:off x="420710" y="3044905"/>
            <a:ext cx="2366306" cy="1337198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accent2"/>
                </a:solidFill>
                <a:ea typeface="游ゴシック"/>
              </a:rPr>
              <a:t>検知</a:t>
            </a:r>
            <a:endParaRPr lang="ja-JP" altLang="en-US" sz="3200" b="1">
              <a:solidFill>
                <a:schemeClr val="accent2"/>
              </a:solidFill>
            </a:endParaRP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974460F4-74A9-8E7D-F9FE-48DFF54DBF6E}"/>
              </a:ext>
            </a:extLst>
          </p:cNvPr>
          <p:cNvSpPr/>
          <p:nvPr/>
        </p:nvSpPr>
        <p:spPr>
          <a:xfrm>
            <a:off x="2647715" y="5156199"/>
            <a:ext cx="922866" cy="7366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4FC42DA-98D1-F007-827D-450A00103577}"/>
              </a:ext>
            </a:extLst>
          </p:cNvPr>
          <p:cNvSpPr txBox="1"/>
          <p:nvPr/>
        </p:nvSpPr>
        <p:spPr>
          <a:xfrm>
            <a:off x="471780" y="2357965"/>
            <a:ext cx="2641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人を検知後、撮影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7D207E67-755B-F237-997E-87148483A093}"/>
              </a:ext>
            </a:extLst>
          </p:cNvPr>
          <p:cNvGrpSpPr/>
          <p:nvPr/>
        </p:nvGrpSpPr>
        <p:grpSpPr>
          <a:xfrm>
            <a:off x="7024511" y="372534"/>
            <a:ext cx="4470400" cy="2675996"/>
            <a:chOff x="6883400" y="203201"/>
            <a:chExt cx="4470400" cy="2675996"/>
          </a:xfrm>
        </p:grpSpPr>
        <p:pic>
          <p:nvPicPr>
            <p:cNvPr id="12" name="図 11" descr="テーブル, 座る, 皿 が含まれている画像&#10;&#10;AI 生成コンテンツは間違っている可能性があります。">
              <a:extLst>
                <a:ext uri="{FF2B5EF4-FFF2-40B4-BE49-F238E27FC236}">
                  <a16:creationId xmlns:a16="http://schemas.microsoft.com/office/drawing/2014/main" id="{4AA12A1F-6A98-41F8-15DE-F92BA4AD5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94637" y="1125538"/>
              <a:ext cx="2354792" cy="1753659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9AA3E68-A0A4-976D-4493-2CDE1550BC81}"/>
                </a:ext>
              </a:extLst>
            </p:cNvPr>
            <p:cNvSpPr txBox="1"/>
            <p:nvPr/>
          </p:nvSpPr>
          <p:spPr>
            <a:xfrm>
              <a:off x="6883400" y="203201"/>
              <a:ext cx="4470400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ja-JP" altLang="en-US" sz="2400" b="1">
                  <a:ea typeface="游ゴシック"/>
                </a:rPr>
                <a:t>Spread Sheet に記入した値をもとに照明を調整</a:t>
              </a:r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19123C-CFE1-A7A8-A865-226CE51FFA25}"/>
              </a:ext>
            </a:extLst>
          </p:cNvPr>
          <p:cNvSpPr txBox="1"/>
          <p:nvPr/>
        </p:nvSpPr>
        <p:spPr>
          <a:xfrm>
            <a:off x="3786975" y="2021497"/>
            <a:ext cx="29879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写真をメールで送信</a:t>
            </a:r>
          </a:p>
        </p:txBody>
      </p:sp>
    </p:spTree>
    <p:extLst>
      <p:ext uri="{BB962C8B-B14F-4D97-AF65-F5344CB8AC3E}">
        <p14:creationId xmlns:p14="http://schemas.microsoft.com/office/powerpoint/2010/main" val="252989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CA70-1613-A72B-A1EB-83A47E33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FEA3748-90FC-BEDF-8DD4-45C5B0F273DB}"/>
              </a:ext>
            </a:extLst>
          </p:cNvPr>
          <p:cNvSpPr/>
          <p:nvPr/>
        </p:nvSpPr>
        <p:spPr>
          <a:xfrm>
            <a:off x="407029" y="384741"/>
            <a:ext cx="5548751" cy="9418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4A9499-C03F-2CE9-908D-F1EA7422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4686795" cy="939615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必要なモジュール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947E2B-2387-DB65-A80D-86ECE98DA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8223" cy="48857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スプレッドシート管理用プログラム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en-US" altLang="ja-JP" sz="3200">
                <a:ea typeface="游ゴシック"/>
              </a:rPr>
              <a:t>Remo</a:t>
            </a:r>
            <a:r>
              <a:rPr lang="ja-JP" sz="3200">
                <a:ea typeface="游ゴシック"/>
              </a:rPr>
              <a:t>３からのデータ管理用プログラム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カメラデータ管理用プログラム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照明操作用プログラム</a:t>
            </a:r>
            <a:endParaRPr lang="en-US" alt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endParaRPr lang="ja-JP" sz="3200">
              <a:ea typeface="游ゴシック"/>
            </a:endParaRPr>
          </a:p>
          <a:p>
            <a:pPr>
              <a:buFont typeface="Arial,Sans-Serif"/>
              <a:buChar char="•"/>
            </a:pPr>
            <a:r>
              <a:rPr lang="ja-JP" sz="3200">
                <a:ea typeface="游ゴシック"/>
              </a:rPr>
              <a:t>カメラ操作用プログラム</a:t>
            </a:r>
          </a:p>
          <a:p>
            <a:pPr>
              <a:buFont typeface="Arial,Sans-Serif"/>
              <a:buChar char="•"/>
            </a:pPr>
            <a:endParaRPr lang="ja-JP" altLang="en-US" sz="320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43450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1A7CA-6DA0-57DE-DB0F-80BECA43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D4F9BC3-B6CE-60C3-6A35-BF8A3BA8D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1C8FC7-4EC2-2B68-E348-61C39D65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sz="6000" b="1">
                <a:ea typeface="游ゴシック Light"/>
              </a:rPr>
              <a:t>３</a:t>
            </a:r>
            <a:r>
              <a:rPr lang="ja-JP" sz="6600" b="1">
                <a:ea typeface="游ゴシック Light"/>
              </a:rPr>
              <a:t>．プロジェクト計画</a:t>
            </a:r>
            <a:endParaRPr lang="ja-JP" sz="6600">
              <a:ea typeface="游ゴシック Light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C7EAE3A7-9236-1CFA-BE9A-F77F90646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4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CA70-1613-A72B-A1EB-83A47E33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FEA3748-90FC-BEDF-8DD4-45C5B0F273DB}"/>
              </a:ext>
            </a:extLst>
          </p:cNvPr>
          <p:cNvSpPr/>
          <p:nvPr/>
        </p:nvSpPr>
        <p:spPr>
          <a:xfrm>
            <a:off x="407029" y="384741"/>
            <a:ext cx="3351816" cy="9418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4A9499-C03F-2CE9-908D-F1EA7422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917"/>
            <a:ext cx="2509653" cy="939615"/>
          </a:xfrm>
        </p:spPr>
        <p:txBody>
          <a:bodyPr/>
          <a:lstStyle/>
          <a:p>
            <a:r>
              <a:rPr lang="ja-JP" altLang="en-US" b="1">
                <a:ea typeface="游ゴシック Light"/>
              </a:rPr>
              <a:t>開発体制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1D65CF9-1A38-96C2-6E0E-53347EC84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36258"/>
              </p:ext>
            </p:extLst>
          </p:nvPr>
        </p:nvGraphicFramePr>
        <p:xfrm>
          <a:off x="207817" y="1494311"/>
          <a:ext cx="11781786" cy="5334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178">
                  <a:extLst>
                    <a:ext uri="{9D8B030D-6E8A-4147-A177-3AD203B41FA5}">
                      <a16:colId xmlns:a16="http://schemas.microsoft.com/office/drawing/2014/main" val="1698934301"/>
                    </a:ext>
                  </a:extLst>
                </a:gridCol>
                <a:gridCol w="3891178">
                  <a:extLst>
                    <a:ext uri="{9D8B030D-6E8A-4147-A177-3AD203B41FA5}">
                      <a16:colId xmlns:a16="http://schemas.microsoft.com/office/drawing/2014/main" val="3778741668"/>
                    </a:ext>
                  </a:extLst>
                </a:gridCol>
                <a:gridCol w="3999430">
                  <a:extLst>
                    <a:ext uri="{9D8B030D-6E8A-4147-A177-3AD203B41FA5}">
                      <a16:colId xmlns:a16="http://schemas.microsoft.com/office/drawing/2014/main" val="172708787"/>
                    </a:ext>
                  </a:extLst>
                </a:gridCol>
              </a:tblGrid>
              <a:tr h="74802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>
                          <a:solidFill>
                            <a:schemeClr val="bg1"/>
                          </a:solidFill>
                        </a:rPr>
                        <a:t>役職</a:t>
                      </a:r>
                      <a:endParaRPr kumimoji="1" lang="ja-JP" altLang="en-US" sz="3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>
                          <a:solidFill>
                            <a:schemeClr val="bg1"/>
                          </a:solidFill>
                        </a:rPr>
                        <a:t>名前</a:t>
                      </a:r>
                      <a:endParaRPr kumimoji="1" lang="ja-JP" altLang="en-US" sz="3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>
                          <a:solidFill>
                            <a:schemeClr val="bg1"/>
                          </a:solidFill>
                        </a:rPr>
                        <a:t>すること</a:t>
                      </a:r>
                      <a:endParaRPr kumimoji="1" lang="ja-JP" altLang="en-US" sz="3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488939"/>
                  </a:ext>
                </a:extLst>
              </a:tr>
              <a:tr h="921668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400" u="none"/>
                        <a:t>リーダー</a:t>
                      </a:r>
                      <a:endParaRPr kumimoji="1" lang="ja-JP" altLang="en-US" sz="2400" u="none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奥村　洵太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・全体スケジュールの管理</a:t>
                      </a:r>
                      <a:endParaRPr lang="ja-JP" sz="24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89973"/>
                  </a:ext>
                </a:extLst>
              </a:tr>
              <a:tr h="1415896">
                <a:tc>
                  <a:txBody>
                    <a:bodyPr/>
                    <a:lstStyle/>
                    <a:p>
                      <a:pPr algn="l"/>
                      <a:r>
                        <a:rPr lang="ja-JP" altLang="en-US" sz="2400" u="none"/>
                        <a:t>開発責任者</a:t>
                      </a:r>
                      <a:endParaRPr kumimoji="1" lang="ja-JP" altLang="en-US" sz="2400" u="none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川瀬　陽己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・プログラムが設計書に沿ったものを作成できているか管理する</a:t>
                      </a:r>
                      <a:endParaRPr lang="ja-JP" sz="2400"/>
                    </a:p>
                    <a:p>
                      <a:pPr lvl="0">
                        <a:buNone/>
                      </a:pPr>
                      <a:endParaRPr lang="ja-JP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720465"/>
                  </a:ext>
                </a:extLst>
              </a:tr>
              <a:tr h="1081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ja-JP" altLang="en-US" sz="2400" u="none"/>
                        <a:t>プログラム責任者</a:t>
                      </a:r>
                      <a:endParaRPr kumimoji="1" lang="ja-JP" altLang="en-US" sz="2400" u="none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2400"/>
                        <a:t>藤松　和志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2400"/>
                        <a:t>・各々の作るプログラムが開発方針にあったものか確認する</a:t>
                      </a:r>
                      <a:endParaRPr lang="ja-JP" sz="24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16873"/>
                  </a:ext>
                </a:extLst>
              </a:tr>
              <a:tr h="92166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ja-JP" altLang="en-US" sz="2400" b="0" u="none"/>
                        <a:t>資料作成責任者</a:t>
                      </a:r>
                      <a:endParaRPr kumimoji="1" lang="ja-JP" altLang="en-US" sz="2400" b="0" u="none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2400"/>
                        <a:t>三木原　浬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2400"/>
                        <a:t>・発表資料の管理を行う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62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5ED7B0C-F7D7-A3A6-7897-212B6F41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開発スケジュール</a:t>
            </a:r>
            <a:endParaRPr kumimoji="1" lang="en-US" altLang="ja-JP" sz="6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2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6B96-1098-48CD-8A02-C1BAD10F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3">
            <a:extLst>
              <a:ext uri="{FF2B5EF4-FFF2-40B4-BE49-F238E27FC236}">
                <a16:creationId xmlns:a16="http://schemas.microsoft.com/office/drawing/2014/main" id="{1747AB6C-4AA0-D402-A242-D8252EE0A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700460"/>
              </p:ext>
            </p:extLst>
          </p:nvPr>
        </p:nvGraphicFramePr>
        <p:xfrm>
          <a:off x="98961" y="138545"/>
          <a:ext cx="11943812" cy="666949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319293">
                  <a:extLst>
                    <a:ext uri="{9D8B030D-6E8A-4147-A177-3AD203B41FA5}">
                      <a16:colId xmlns:a16="http://schemas.microsoft.com/office/drawing/2014/main" val="156765277"/>
                    </a:ext>
                  </a:extLst>
                </a:gridCol>
                <a:gridCol w="1632864">
                  <a:extLst>
                    <a:ext uri="{9D8B030D-6E8A-4147-A177-3AD203B41FA5}">
                      <a16:colId xmlns:a16="http://schemas.microsoft.com/office/drawing/2014/main" val="314084792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86900357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3397441561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72873775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60557587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55050848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095651632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65169449"/>
                    </a:ext>
                  </a:extLst>
                </a:gridCol>
              </a:tblGrid>
              <a:tr h="9718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タスク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4/22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28575" cmpd="sng">
                      <a:solidFill>
                        <a:schemeClr val="tx1"/>
                      </a:solidFill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74850"/>
                  </a:ext>
                </a:extLst>
              </a:tr>
              <a:tr h="11831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要件仕様書、設計書確認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全員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810873"/>
                  </a:ext>
                </a:extLst>
              </a:tr>
              <a:tr h="125354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スプレッドシート管理用プログラム作成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奥村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902217"/>
                  </a:ext>
                </a:extLst>
              </a:tr>
              <a:tr h="12876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2400" b="0" i="0" u="none" strike="noStrike" cap="none" spc="0" noProof="0">
                          <a:solidFill>
                            <a:schemeClr val="tx1"/>
                          </a:solidFill>
                          <a:latin typeface="游ゴシック"/>
                          <a:ea typeface="游ゴシック"/>
                        </a:rPr>
                        <a:t>照明操作用プログラム作成</a:t>
                      </a:r>
                      <a:endParaRPr lang="ja-JP"/>
                    </a:p>
                    <a:p>
                      <a:pPr lvl="0" algn="ctr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川瀬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51581"/>
                  </a:ext>
                </a:extLst>
              </a:tr>
              <a:tr h="15634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2400" b="0" i="0" u="none" strike="noStrike" cap="none" spc="0" noProof="0">
                          <a:solidFill>
                            <a:schemeClr val="tx1"/>
                          </a:solidFill>
                          <a:latin typeface="游ゴシック"/>
                          <a:ea typeface="游ゴシック"/>
                        </a:rPr>
                        <a:t>Remo3からのデータ管理用プログラム</a:t>
                      </a: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藤松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91604"/>
                  </a:ext>
                </a:extLst>
              </a:tr>
            </a:tbl>
          </a:graphicData>
        </a:graphic>
      </p:graphicFrame>
      <p:sp>
        <p:nvSpPr>
          <p:cNvPr id="2" name="矢印: 右 1">
            <a:extLst>
              <a:ext uri="{FF2B5EF4-FFF2-40B4-BE49-F238E27FC236}">
                <a16:creationId xmlns:a16="http://schemas.microsoft.com/office/drawing/2014/main" id="{4B477737-07B5-9E9C-A970-AB8DB53B355A}"/>
              </a:ext>
            </a:extLst>
          </p:cNvPr>
          <p:cNvSpPr/>
          <p:nvPr/>
        </p:nvSpPr>
        <p:spPr>
          <a:xfrm>
            <a:off x="4175487" y="1551878"/>
            <a:ext cx="954640" cy="564667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D51EB745-404B-7BA6-B168-74A594E10509}"/>
              </a:ext>
            </a:extLst>
          </p:cNvPr>
          <p:cNvSpPr/>
          <p:nvPr/>
        </p:nvSpPr>
        <p:spPr>
          <a:xfrm>
            <a:off x="4650500" y="2788891"/>
            <a:ext cx="2716145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163E3222-2049-EFE1-C54D-75AD97450CDC}"/>
              </a:ext>
            </a:extLst>
          </p:cNvPr>
          <p:cNvSpPr/>
          <p:nvPr/>
        </p:nvSpPr>
        <p:spPr>
          <a:xfrm>
            <a:off x="4650500" y="4006111"/>
            <a:ext cx="2716145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1160AA06-60B2-A68B-3411-5DE7C0C782C4}"/>
              </a:ext>
            </a:extLst>
          </p:cNvPr>
          <p:cNvSpPr/>
          <p:nvPr/>
        </p:nvSpPr>
        <p:spPr>
          <a:xfrm>
            <a:off x="4650499" y="5381670"/>
            <a:ext cx="2716145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0311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F38D1-2E8B-AFAC-6BC0-C941EF26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3">
            <a:extLst>
              <a:ext uri="{FF2B5EF4-FFF2-40B4-BE49-F238E27FC236}">
                <a16:creationId xmlns:a16="http://schemas.microsoft.com/office/drawing/2014/main" id="{446911DF-0AD1-3C3D-4313-1CD4E9F65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943753"/>
              </p:ext>
            </p:extLst>
          </p:nvPr>
        </p:nvGraphicFramePr>
        <p:xfrm>
          <a:off x="98961" y="138545"/>
          <a:ext cx="11943812" cy="619297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319293">
                  <a:extLst>
                    <a:ext uri="{9D8B030D-6E8A-4147-A177-3AD203B41FA5}">
                      <a16:colId xmlns:a16="http://schemas.microsoft.com/office/drawing/2014/main" val="156765277"/>
                    </a:ext>
                  </a:extLst>
                </a:gridCol>
                <a:gridCol w="1632864">
                  <a:extLst>
                    <a:ext uri="{9D8B030D-6E8A-4147-A177-3AD203B41FA5}">
                      <a16:colId xmlns:a16="http://schemas.microsoft.com/office/drawing/2014/main" val="314084792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86900357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3397441561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72873775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60557587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55050848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095651632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65169449"/>
                    </a:ext>
                  </a:extLst>
                </a:gridCol>
              </a:tblGrid>
              <a:tr h="102725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タスク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4/22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28575" cmpd="sng">
                      <a:solidFill>
                        <a:schemeClr val="tx1"/>
                      </a:solidFill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74850"/>
                  </a:ext>
                </a:extLst>
              </a:tr>
              <a:tr h="12876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2400" b="0" i="0" u="none" strike="noStrike" cap="none" spc="0" noProof="0">
                          <a:solidFill>
                            <a:schemeClr val="tx1"/>
                          </a:solidFill>
                          <a:latin typeface="游ゴシック"/>
                          <a:ea typeface="游ゴシック"/>
                        </a:rPr>
                        <a:t>カメラデータ管理用プログラム作成</a:t>
                      </a:r>
                      <a:endParaRPr kumimoji="1" lang="ja-JP"/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藤松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810873"/>
                  </a:ext>
                </a:extLst>
              </a:tr>
              <a:tr h="12876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カメラ操作用プログラム作成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三木原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902217"/>
                  </a:ext>
                </a:extLst>
              </a:tr>
              <a:tr h="12876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スプレッドシート情報取得テスト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奥村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51581"/>
                  </a:ext>
                </a:extLst>
              </a:tr>
              <a:tr h="12876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b="0" cap="none" spc="0">
                          <a:solidFill>
                            <a:schemeClr val="tx1"/>
                          </a:solidFill>
                        </a:rPr>
                        <a:t>照明調整テスト</a:t>
                      </a:r>
                      <a:endParaRPr kumimoji="1" lang="ja-JP" altLang="en-US" sz="24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川瀬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91604"/>
                  </a:ext>
                </a:extLst>
              </a:tr>
            </a:tbl>
          </a:graphicData>
        </a:graphic>
      </p:graphicFrame>
      <p:sp>
        <p:nvSpPr>
          <p:cNvPr id="4" name="矢印: 右 3">
            <a:extLst>
              <a:ext uri="{FF2B5EF4-FFF2-40B4-BE49-F238E27FC236}">
                <a16:creationId xmlns:a16="http://schemas.microsoft.com/office/drawing/2014/main" id="{36DFF339-9154-358D-E216-69EBE1BFB7F3}"/>
              </a:ext>
            </a:extLst>
          </p:cNvPr>
          <p:cNvSpPr/>
          <p:nvPr/>
        </p:nvSpPr>
        <p:spPr>
          <a:xfrm>
            <a:off x="4610916" y="1512294"/>
            <a:ext cx="2716145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5D73624B-37C3-02FA-FFA7-5C73A4675D8B}"/>
              </a:ext>
            </a:extLst>
          </p:cNvPr>
          <p:cNvSpPr/>
          <p:nvPr/>
        </p:nvSpPr>
        <p:spPr>
          <a:xfrm>
            <a:off x="4610916" y="2798787"/>
            <a:ext cx="2716145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AC5FD8CD-BFA7-18EF-3217-94802A3DD1E7}"/>
              </a:ext>
            </a:extLst>
          </p:cNvPr>
          <p:cNvSpPr/>
          <p:nvPr/>
        </p:nvSpPr>
        <p:spPr>
          <a:xfrm>
            <a:off x="7569851" y="4075384"/>
            <a:ext cx="2112483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82B6D94-3577-FFA4-F721-623AF560E19B}"/>
              </a:ext>
            </a:extLst>
          </p:cNvPr>
          <p:cNvSpPr/>
          <p:nvPr/>
        </p:nvSpPr>
        <p:spPr>
          <a:xfrm>
            <a:off x="7569850" y="5361878"/>
            <a:ext cx="2112483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10936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C2C4-5E60-3C98-5EA0-17B13309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3">
            <a:extLst>
              <a:ext uri="{FF2B5EF4-FFF2-40B4-BE49-F238E27FC236}">
                <a16:creationId xmlns:a16="http://schemas.microsoft.com/office/drawing/2014/main" id="{6E222D60-4148-882F-E486-C2F1F283D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697296"/>
              </p:ext>
            </p:extLst>
          </p:nvPr>
        </p:nvGraphicFramePr>
        <p:xfrm>
          <a:off x="98961" y="138545"/>
          <a:ext cx="11943810" cy="5999649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319292">
                  <a:extLst>
                    <a:ext uri="{9D8B030D-6E8A-4147-A177-3AD203B41FA5}">
                      <a16:colId xmlns:a16="http://schemas.microsoft.com/office/drawing/2014/main" val="156765277"/>
                    </a:ext>
                  </a:extLst>
                </a:gridCol>
                <a:gridCol w="1632863">
                  <a:extLst>
                    <a:ext uri="{9D8B030D-6E8A-4147-A177-3AD203B41FA5}">
                      <a16:colId xmlns:a16="http://schemas.microsoft.com/office/drawing/2014/main" val="314084792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86900357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3397441561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72873775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605575875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550508484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1095651632"/>
                    </a:ext>
                  </a:extLst>
                </a:gridCol>
                <a:gridCol w="1141665">
                  <a:extLst>
                    <a:ext uri="{9D8B030D-6E8A-4147-A177-3AD203B41FA5}">
                      <a16:colId xmlns:a16="http://schemas.microsoft.com/office/drawing/2014/main" val="2065169449"/>
                    </a:ext>
                  </a:extLst>
                </a:gridCol>
              </a:tblGrid>
              <a:tr h="102725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タスク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4/22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4/29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5/13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5/20 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2000" b="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ja-JP" sz="2000" b="0" i="0" u="none" strike="noStrike" cap="none" spc="0" noProof="0">
                          <a:solidFill>
                            <a:schemeClr val="bg1"/>
                          </a:solidFill>
                          <a:latin typeface="游ゴシック"/>
                          <a:ea typeface="游ゴシック"/>
                        </a:rPr>
                        <a:t>限</a:t>
                      </a:r>
                      <a:endParaRPr kumimoji="1" lang="ja-JP" altLang="en-US" sz="2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0266" marR="130266" marT="130266" marB="65133" anchor="ctr">
                    <a:lnL w="0" cmpd="sng">
                      <a:noFill/>
                    </a:lnL>
                    <a:lnR w="28575" cmpd="sng">
                      <a:solidFill>
                        <a:schemeClr val="tx1"/>
                      </a:solidFill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74850"/>
                  </a:ext>
                </a:extLst>
              </a:tr>
              <a:tr h="139478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 sz="2400" b="0" i="0" u="none" strike="noStrike" cap="none" spc="0" noProof="0" dirty="0">
                        <a:solidFill>
                          <a:schemeClr val="tx1"/>
                        </a:solidFill>
                        <a:latin typeface="游ゴシック"/>
                        <a:ea typeface="游ゴシック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sz="2400" b="0" i="0" u="none" strike="noStrike" cap="none" spc="0" noProof="0">
                          <a:solidFill>
                            <a:schemeClr val="tx1"/>
                          </a:solidFill>
                          <a:latin typeface="游ゴシック"/>
                          <a:ea typeface="游ゴシック"/>
                        </a:rPr>
                        <a:t>写真の送信テスト</a:t>
                      </a:r>
                      <a:endParaRPr kumimoji="1" lang="ja-JP"/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藤松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810873"/>
                  </a:ext>
                </a:extLst>
              </a:tr>
              <a:tr h="139478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2400" b="0" i="0" u="none" strike="noStrike" cap="none" spc="0" noProof="0">
                          <a:solidFill>
                            <a:schemeClr val="tx1"/>
                          </a:solidFill>
                          <a:latin typeface="游ゴシック"/>
                          <a:ea typeface="游ゴシック"/>
                        </a:rPr>
                        <a:t>カメラが人を検知した後の撮影テスト</a:t>
                      </a:r>
                      <a:endParaRPr lang="ja-JP"/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三木原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902217"/>
                  </a:ext>
                </a:extLst>
              </a:tr>
              <a:tr h="137449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システムテスト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全員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51581"/>
                  </a:ext>
                </a:extLst>
              </a:tr>
              <a:tr h="8083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b="0" cap="none" spc="0">
                          <a:solidFill>
                            <a:schemeClr val="tx1"/>
                          </a:solidFill>
                        </a:rPr>
                        <a:t>成果発表資料</a:t>
                      </a:r>
                      <a:endParaRPr kumimoji="1" lang="ja-JP" altLang="en-US" sz="24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400" cap="none" spc="0">
                          <a:solidFill>
                            <a:schemeClr val="tx1"/>
                          </a:solidFill>
                        </a:rPr>
                        <a:t>全員</a:t>
                      </a: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0266" marR="130266" marT="130266" marB="6513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91604"/>
                  </a:ext>
                </a:extLst>
              </a:tr>
            </a:tbl>
          </a:graphicData>
        </a:graphic>
      </p:graphicFrame>
      <p:sp>
        <p:nvSpPr>
          <p:cNvPr id="2" name="矢印: 右 1">
            <a:extLst>
              <a:ext uri="{FF2B5EF4-FFF2-40B4-BE49-F238E27FC236}">
                <a16:creationId xmlns:a16="http://schemas.microsoft.com/office/drawing/2014/main" id="{A8BB637E-FC19-0D42-57D0-4B94666C04E3}"/>
              </a:ext>
            </a:extLst>
          </p:cNvPr>
          <p:cNvSpPr/>
          <p:nvPr/>
        </p:nvSpPr>
        <p:spPr>
          <a:xfrm>
            <a:off x="4333824" y="5460839"/>
            <a:ext cx="7604821" cy="564667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B4B99DBE-1C02-6478-24D8-0CF04189A844}"/>
              </a:ext>
            </a:extLst>
          </p:cNvPr>
          <p:cNvSpPr/>
          <p:nvPr/>
        </p:nvSpPr>
        <p:spPr>
          <a:xfrm>
            <a:off x="9875643" y="4431644"/>
            <a:ext cx="954640" cy="564667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6AFF6DA-D395-F9E1-3222-023B32E16CD4}"/>
              </a:ext>
            </a:extLst>
          </p:cNvPr>
          <p:cNvSpPr/>
          <p:nvPr/>
        </p:nvSpPr>
        <p:spPr>
          <a:xfrm>
            <a:off x="7579746" y="1581566"/>
            <a:ext cx="2112483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DFBD21D1-F1DB-38B8-9865-77E258247A4A}"/>
              </a:ext>
            </a:extLst>
          </p:cNvPr>
          <p:cNvSpPr/>
          <p:nvPr/>
        </p:nvSpPr>
        <p:spPr>
          <a:xfrm>
            <a:off x="7579746" y="2937333"/>
            <a:ext cx="2112483" cy="633939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69616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14</Slides>
  <Notes>0</Notes>
  <HiddenSlides>0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5" baseType="lpstr">
      <vt:lpstr>Office テーマ</vt:lpstr>
      <vt:lpstr>中間発表</vt:lpstr>
      <vt:lpstr>1．要求仕様</vt:lpstr>
      <vt:lpstr>システムの概要</vt:lpstr>
      <vt:lpstr>要求仕様</vt:lpstr>
      <vt:lpstr>想定する利用者</vt:lpstr>
      <vt:lpstr>２．設計</vt:lpstr>
      <vt:lpstr>システム処理の流れ</vt:lpstr>
      <vt:lpstr>必要なモジュール</vt:lpstr>
      <vt:lpstr>３．プロジェクト計画</vt:lpstr>
      <vt:lpstr>開発体制</vt:lpstr>
      <vt:lpstr>開発スケジュール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陽己 川瀬</dc:creator>
  <cp:revision>218</cp:revision>
  <dcterms:created xsi:type="dcterms:W3CDTF">2026-04-15T06:48:04Z</dcterms:created>
  <dcterms:modified xsi:type="dcterms:W3CDTF">2026-04-21T23:18:07Z</dcterms:modified>
</cp:coreProperties>
</file>